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1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0"/>
            <a:ext cx="10241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41414"/>
                </a:solidFill>
                <a:latin typeface="Helvetica Neue"/>
              </a:rPr>
              <a:t>Single-cell genome sequencing
of three BLO strains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A9A9A"/>
                </a:solidFill>
                <a:latin typeface="Helvetica Neue"/>
              </a:rPr>
              <a:t>Nanopore  ·  Single-cell amplification  ·  Assembly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49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9A9A"/>
                </a:solidFill>
                <a:latin typeface="Helvetica Neue"/>
              </a:rPr>
              <a:t>Rustem Musaev    |  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0" b="1" i="0">
                <a:solidFill>
                  <a:srgbClr val="C1272D"/>
                </a:solidFill>
                <a:latin typeface="Helvetica Neue"/>
              </a:rPr>
              <a:t>92%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794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41414"/>
                </a:solidFill>
                <a:latin typeface="Helvetica Neue"/>
              </a:rPr>
              <a:t>of conserved genes — absent from all three assemblies.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41414"/>
                </a:solidFill>
                <a:latin typeface="Helvetica Neue"/>
              </a:rPr>
              <a:t>Can single-cell amplification
deliver a usable genome?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2148840"/>
            <a:ext cx="457200" cy="64008"/>
          </a:xfrm>
          <a:prstGeom prst="rect">
            <a:avLst/>
          </a:prstGeom>
          <a:solidFill>
            <a:srgbClr val="C1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41414"/>
                </a:solidFill>
                <a:latin typeface="Helvetica Neue"/>
              </a:rPr>
              <a:t>Three strains. Three cells. One Nanopore run.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375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41414"/>
                </a:solidFill>
                <a:latin typeface="Helvetica Neue"/>
              </a:rPr>
              <a:t>barcode01  →  Simpson lab strain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931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41414"/>
                </a:solidFill>
                <a:latin typeface="Helvetica Neue"/>
              </a:rPr>
              <a:t>barcode03  →  CARMGS strain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26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41414"/>
                </a:solidFill>
                <a:latin typeface="Helvetica Neue"/>
              </a:rPr>
              <a:t>blo           →  TEN1 strain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41414"/>
                </a:solidFill>
                <a:latin typeface="Helvetica Neue"/>
              </a:rPr>
              <a:t>What we did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05840"/>
            <a:ext cx="457200" cy="64008"/>
          </a:xfrm>
          <a:prstGeom prst="rect">
            <a:avLst/>
          </a:prstGeom>
          <a:solidFill>
            <a:srgbClr val="C1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1272D"/>
                </a:solidFill>
                <a:latin typeface="Helvetica Neue"/>
              </a:rPr>
              <a:t>Re-basecalling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41414"/>
                </a:solidFill>
                <a:latin typeface="Helvetica Neue"/>
              </a:rPr>
              <a:t>Raw signal re-processed with the highest-accuracy model for maximum read quality.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1272D"/>
                </a:solidFill>
                <a:latin typeface="Helvetica Neue"/>
              </a:rPr>
              <a:t>Decontamination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41414"/>
                </a:solidFill>
                <a:latin typeface="Helvetica Neue"/>
              </a:rPr>
              <a:t>Human reads discarded — but only those &gt;80% identical to human genome.
Strict removal had eliminated 89% of barcode03's reads (shared conserved genes).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79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1272D"/>
                </a:solidFill>
                <a:latin typeface="Helvetica Neue"/>
              </a:rPr>
              <a:t>Assembly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16052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41414"/>
                </a:solidFill>
                <a:latin typeface="Helvetica Neue"/>
              </a:rPr>
              <a:t>Long-read assembly on decontaminated reads. All contigs used as input.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611879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1272D"/>
                </a:solidFill>
                <a:latin typeface="Helvetica Neue"/>
              </a:rPr>
              <a:t>Breviatea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16052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41414"/>
                </a:solidFill>
                <a:latin typeface="Helvetica Neue"/>
              </a:rPr>
              <a:t>Contigs compared against 15 Breviatea sequence databases.
Matches kept; everything else discarded.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1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41414"/>
                </a:solidFill>
                <a:latin typeface="Helvetica Neue"/>
              </a:rPr>
              <a:t>How much did we recover?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141414"/>
                </a:solidFill>
                <a:latin typeface="Helvetica Neue"/>
              </a:rPr>
              <a:t>25.7 Mb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9A9A"/>
                </a:solidFill>
                <a:latin typeface="Helvetica Neue"/>
              </a:rPr>
              <a:t>barcode01
(Simpson lab)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5448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141414"/>
                </a:solidFill>
                <a:latin typeface="Helvetica Neue"/>
              </a:rPr>
              <a:t>17.5 Mb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0632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9A9A"/>
                </a:solidFill>
                <a:latin typeface="Helvetica Neue"/>
              </a:rPr>
              <a:t>blo
(TEN1)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9A9A9A"/>
                </a:solidFill>
                <a:latin typeface="Helvetica Neue"/>
              </a:rPr>
              <a:t>0.7 Mb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0632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9A9A"/>
                </a:solidFill>
                <a:latin typeface="Helvetica Neue"/>
              </a:rPr>
              <a:t>barcode03
(CARMGS)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1605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1272D"/>
                </a:solidFill>
                <a:latin typeface="Helvetica Neue"/>
              </a:rPr>
              <a:t>A typical protist genome: 50 – 500 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463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A9A9A"/>
                </a:solidFill>
                <a:latin typeface="Helvetica Neue"/>
              </a:rPr>
              <a:t>We recovered roughly 1–5% of the expected genome.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9144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41414"/>
                </a:solidFill>
                <a:latin typeface="Helvetica Neue"/>
              </a:rPr>
              <a:t>Conserved gene completeness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457200" cy="64008"/>
          </a:xfrm>
          <a:prstGeom prst="rect">
            <a:avLst/>
          </a:prstGeom>
          <a:solidFill>
            <a:srgbClr val="C1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A9A9A"/>
                </a:solidFill>
                <a:latin typeface="Helvetica Neue"/>
              </a:rPr>
              <a:t>~255 genes expected in every eukaryotic genome: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920240"/>
          <a:ext cx="1133856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920240"/>
                <a:gridCol w="2103120"/>
                <a:gridCol w="1920240"/>
                <a:gridCol w="1920240"/>
              </a:tblGrid>
              <a:tr h="420624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</a:rPr>
                        <a:t>Sample</a:t>
                      </a:r>
                    </a:p>
                  </a:txBody>
                  <a:tcPr>
                    <a:solidFill>
                      <a:srgbClr val="C1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</a:rPr>
                        <a:t>Complete</a:t>
                      </a:r>
                    </a:p>
                  </a:txBody>
                  <a:tcPr>
                    <a:solidFill>
                      <a:srgbClr val="C1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</a:rPr>
                        <a:t>Duplicated*</a:t>
                      </a:r>
                    </a:p>
                  </a:txBody>
                  <a:tcPr>
                    <a:solidFill>
                      <a:srgbClr val="C1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</a:rPr>
                        <a:t>Fragmented</a:t>
                      </a:r>
                    </a:p>
                  </a:txBody>
                  <a:tcPr>
                    <a:solidFill>
                      <a:srgbClr val="C1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</a:rPr>
                        <a:t>Missing</a:t>
                      </a:r>
                    </a:p>
                  </a:txBody>
                  <a:tcPr>
                    <a:solidFill>
                      <a:srgbClr val="C1272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414"/>
                          </a:solidFill>
                          <a:latin typeface="Helvetica Neue"/>
                        </a:rPr>
                        <a:t>barcode01 (Simpson)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414"/>
                          </a:solidFill>
                          <a:latin typeface="Helvetica Neue"/>
                        </a:rPr>
                        <a:t>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414"/>
                          </a:solidFill>
                          <a:latin typeface="Helvetica Neue"/>
                        </a:rPr>
                        <a:t>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414"/>
                          </a:solidFill>
                          <a:latin typeface="Helvetica Neue"/>
                        </a:rPr>
                        <a:t>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414"/>
                          </a:solidFill>
                          <a:latin typeface="Helvetica Neue"/>
                        </a:rPr>
                        <a:t>92.1%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414"/>
                          </a:solidFill>
                          <a:latin typeface="Helvetica Neue"/>
                        </a:rPr>
                        <a:t>barcode03 (CARMGS)</a:t>
                      </a:r>
                    </a:p>
                  </a:txBody>
                  <a:tcPr>
                    <a:solidFill>
                      <a:srgbClr val="FBE8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414"/>
                          </a:solidFill>
                          <a:latin typeface="Helvetica Neue"/>
                        </a:rPr>
                        <a:t>0.0%</a:t>
                      </a:r>
                    </a:p>
                  </a:txBody>
                  <a:tcPr>
                    <a:solidFill>
                      <a:srgbClr val="FBE8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414"/>
                          </a:solidFill>
                          <a:latin typeface="Helvetica Neue"/>
                        </a:rPr>
                        <a:t>0.0%</a:t>
                      </a:r>
                    </a:p>
                  </a:txBody>
                  <a:tcPr>
                    <a:solidFill>
                      <a:srgbClr val="FBE8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414"/>
                          </a:solidFill>
                          <a:latin typeface="Helvetica Neue"/>
                        </a:rPr>
                        <a:t>0.8%</a:t>
                      </a:r>
                    </a:p>
                  </a:txBody>
                  <a:tcPr>
                    <a:solidFill>
                      <a:srgbClr val="FBE8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414"/>
                          </a:solidFill>
                          <a:latin typeface="Helvetica Neue"/>
                        </a:rPr>
                        <a:t>99.2%</a:t>
                      </a:r>
                    </a:p>
                  </a:txBody>
                  <a:tcPr>
                    <a:solidFill>
                      <a:srgbClr val="FBE8E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414"/>
                          </a:solidFill>
                          <a:latin typeface="Helvetica Neue"/>
                        </a:rPr>
                        <a:t>blo (TEN1)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414"/>
                          </a:solidFill>
                          <a:latin typeface="Helvetica Neue"/>
                        </a:rPr>
                        <a:t>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414"/>
                          </a:solidFill>
                          <a:latin typeface="Helvetica Neue"/>
                        </a:rPr>
                        <a:t>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414"/>
                          </a:solidFill>
                          <a:latin typeface="Helvetica Neue"/>
                        </a:rPr>
                        <a:t>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414"/>
                          </a:solidFill>
                          <a:latin typeface="Helvetica Neue"/>
                        </a:rPr>
                        <a:t>90.2%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251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A9A9A"/>
                </a:solidFill>
                <a:latin typeface="Helvetica Neue"/>
              </a:rPr>
              <a:t>* Duplicated = same gene assembled twice — a footprint of over-amplified regions.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0515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41414"/>
                </a:solidFill>
                <a:latin typeface="Helvetica Neue"/>
              </a:rPr>
              <a:t>The bottleneck is in the tube.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457200" cy="64008"/>
          </a:xfrm>
          <a:prstGeom prst="rect">
            <a:avLst/>
          </a:prstGeom>
          <a:solidFill>
            <a:srgbClr val="C1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41414"/>
                </a:solidFill>
                <a:latin typeface="Helvetica Neue"/>
              </a:rPr>
              <a:t>Reads from the missing genes were never produced — no assembly can recover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377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41414"/>
                </a:solidFill>
                <a:latin typeface="Helvetica Neue"/>
              </a:rPr>
              <a:t>The duplicated genes are the inverse:
amplification flooded certain loci → assembler built them twice.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749039"/>
            <a:ext cx="5029200" cy="1554480"/>
          </a:xfrm>
          <a:prstGeom prst="rect">
            <a:avLst/>
          </a:prstGeom>
          <a:solidFill>
            <a:srgbClr val="F4B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7947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1272D"/>
                </a:solidFill>
                <a:latin typeface="Helvetica Neue"/>
              </a:rPr>
              <a:t>Over-amplified loci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9768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1414"/>
                </a:solidFill>
                <a:latin typeface="Helvetica Neue"/>
              </a:rPr>
              <a:t>Reads in excess → duplicate contigs
→ Duplicated% in completeness score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3749039"/>
            <a:ext cx="5029200" cy="1554480"/>
          </a:xfrm>
          <a:prstGeom prst="rect">
            <a:avLst/>
          </a:prstGeom>
          <a:solidFill>
            <a:srgbClr val="FD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7947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A9A9A"/>
                </a:solidFill>
                <a:latin typeface="Helvetica Neue"/>
              </a:rPr>
              <a:t>Under-amplified loci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29768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1414"/>
                </a:solidFill>
                <a:latin typeface="Helvetica Neue"/>
              </a:rPr>
              <a:t>Zero reads → nothing to assemble
→ Missing% in completeness score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41414"/>
                </a:solidFill>
                <a:latin typeface="Helvetica Neue"/>
              </a:rPr>
              <a:t>Can we do better
with the same data?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920240"/>
            <a:ext cx="457200" cy="64008"/>
          </a:xfrm>
          <a:prstGeom prst="rect">
            <a:avLst/>
          </a:prstGeom>
          <a:solidFill>
            <a:srgbClr val="C1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488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1272D"/>
                </a:solidFill>
                <a:latin typeface="Helvetica Neue"/>
              </a:rPr>
              <a:t>Yes — partially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4320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41414"/>
                </a:solidFill>
                <a:latin typeface="Helvetica Neue"/>
              </a:rPr>
              <a:t>Capping read depth before assembly reduces dominance of over-amplified regions. Could improve recovery of the amplified fraction by ~10–15%.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488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A9A9A"/>
                </a:solidFill>
                <a:latin typeface="Helvetica Neue"/>
              </a:rPr>
              <a:t>No — fundamentally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74320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41414"/>
                </a:solidFill>
                <a:latin typeface="Helvetica Neue"/>
              </a:rPr>
              <a:t>Regions that produced zero reads cannot be assembled. Recovering the missing 90%+ requires a better amplification protocol.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C1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41414"/>
                </a:solidFill>
                <a:latin typeface="Helvetica Neue"/>
              </a:rPr>
              <a:t>Nanopore sequencing works.
Single-cell amplification
is where we lose the genome.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3891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1272D"/>
                </a:solidFill>
                <a:latin typeface="Helvetica Neue"/>
              </a:rPr>
              <a:t>Improving amplification evenness is the one experiment that will change everything.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9A9A"/>
                </a:solidFill>
                <a:latin typeface="Helvetica Neue"/>
              </a:rPr>
              <a:t>Rustem Musaev    |  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